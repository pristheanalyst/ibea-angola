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🇦🇴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Bem-Estar Económico Angola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3520440"/>
            <a:ext cx="20116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657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Monitorização Económica de Alta Frequência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de campo · Índices próprios · Open Source · Publicação mensal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PrisTheAnalyst  ·  github.com/PrisTheAnalyst/ibea-angola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do Sistema IBEA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camadas · 6 módulos analíticos · pipeline automatizado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1078992"/>
          </a:xfrm>
          <a:prstGeom prst="rect">
            <a:avLst/>
          </a:prstGeom>
          <a:solidFill>
            <a:srgbClr val="D6F0F3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 — INGESTÃO DE DADOS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115568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Recolha multi-fonte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25786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264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próprio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" y="1673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· semanal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27248" y="1353312"/>
            <a:ext cx="25786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264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públicas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82112" y="1673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BNA · INE · OPEC · BM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43016" y="1353312"/>
            <a:ext cx="25786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14264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1673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Kero · Shoprite · preços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58784" y="1353312"/>
            <a:ext cx="2962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31936" y="142646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oficiais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13648" y="167335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 · Decretos · Boletins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2103120"/>
            <a:ext cx="0" cy="292608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0040" y="2395728"/>
            <a:ext cx="11521440" cy="1078992"/>
          </a:xfrm>
          <a:prstGeom prst="rect">
            <a:avLst/>
          </a:prstGeom>
          <a:solidFill>
            <a:srgbClr val="EEEDFE"/>
          </a:solidFill>
          <a:ln w="15240">
            <a:solidFill>
              <a:srgbClr val="534A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 — PROCESSAMENTO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487168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 · automação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724912"/>
            <a:ext cx="25786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7980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" y="3044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validação outliers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27248" y="2724912"/>
            <a:ext cx="25786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7980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82112" y="3044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0–100 por módulo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43016" y="2724912"/>
            <a:ext cx="25786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16168" y="27980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3044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58784" y="2724912"/>
            <a:ext cx="2962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279806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13648" y="304495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mensal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3474720"/>
            <a:ext cx="0" cy="292608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20040" y="3767328"/>
            <a:ext cx="11521440" cy="1719072"/>
          </a:xfrm>
          <a:prstGeom prst="rect">
            <a:avLst/>
          </a:prstGeom>
          <a:solidFill>
            <a:srgbClr val="FFF0D0"/>
          </a:solidFill>
          <a:ln w="15240">
            <a:solidFill>
              <a:srgbClr val="BA75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 — MÓDULOS ANALÍTICOS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3858768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· índices próprios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078224"/>
            <a:ext cx="2322576" cy="621792"/>
          </a:xfrm>
          <a:prstGeom prst="roundRect">
            <a:avLst>
              <a:gd name="adj" fmla="val 11765"/>
            </a:avLst>
          </a:prstGeom>
          <a:solidFill>
            <a:srgbClr val="FAECE7"/>
          </a:solidFill>
          <a:ln w="10160">
            <a:solidFill>
              <a:srgbClr val="D85A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415137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Inflação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" y="439826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· 25%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834640" y="4078224"/>
            <a:ext cx="2322576" cy="621792"/>
          </a:xfrm>
          <a:prstGeom prst="roundRect">
            <a:avLst>
              <a:gd name="adj" fmla="val 11765"/>
            </a:avLst>
          </a:prstGeom>
          <a:solidFill>
            <a:srgbClr val="FAECE7"/>
          </a:solidFill>
          <a:ln w="1016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07792" y="415137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Petróleo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89504" y="439826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· OGE · 20%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57800" y="4078224"/>
            <a:ext cx="2322576" cy="621792"/>
          </a:xfrm>
          <a:prstGeom prst="roundRect">
            <a:avLst>
              <a:gd name="adj" fmla="val 11765"/>
            </a:avLst>
          </a:prstGeom>
          <a:solidFill>
            <a:srgbClr val="FAECE7"/>
          </a:solidFill>
          <a:ln w="10160">
            <a:solidFill>
              <a:srgbClr val="D85A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30952" y="415137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Salário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12664" y="439826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compra · 25%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680960" y="4078224"/>
            <a:ext cx="3840480" cy="621792"/>
          </a:xfrm>
          <a:prstGeom prst="roundRect">
            <a:avLst>
              <a:gd name="adj" fmla="val 11765"/>
            </a:avLst>
          </a:prstGeom>
          <a:solidFill>
            <a:srgbClr val="FAECE7"/>
          </a:solidFill>
          <a:ln w="10160">
            <a:solidFill>
              <a:srgbClr val="D85A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54112" y="415137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Kwanza · câmbio paralelo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35824" y="439826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BNA · 15%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11480" y="4773168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FBEAF0"/>
          </a:solidFill>
          <a:ln w="10160">
            <a:solidFill>
              <a:srgbClr val="99355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" y="484632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Género · vulnerabilidade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6344" y="509320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· 15%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794760" y="4773168"/>
            <a:ext cx="7726680" cy="621792"/>
          </a:xfrm>
          <a:prstGeom prst="roundRect">
            <a:avLst>
              <a:gd name="adj" fmla="val 11765"/>
            </a:avLst>
          </a:prstGeom>
          <a:solidFill>
            <a:srgbClr val="D6F0F3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67912" y="4846320"/>
            <a:ext cx="7580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— IBEA Composto  |  Score 0–100  ·  publicação mensal  ·  assinatura analítica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080760" y="5486400"/>
            <a:ext cx="0" cy="292608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20040" y="5779008"/>
            <a:ext cx="11521440" cy="914400"/>
          </a:xfrm>
          <a:prstGeom prst="rect">
            <a:avLst/>
          </a:prstGeom>
          <a:solidFill>
            <a:srgbClr val="E6F1FB"/>
          </a:solidFill>
          <a:ln w="15240">
            <a:solidFill>
              <a:srgbClr val="185FA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5852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4 — DISTRIBUIÇÃO PÚBLICA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29200" y="5870448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acesso gratuito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11480" y="6108192"/>
            <a:ext cx="257860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185FA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" y="618134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6344" y="6428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público online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127248" y="6108192"/>
            <a:ext cx="257860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185FA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0" y="618134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182112" y="6428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datasets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843016" y="6108192"/>
            <a:ext cx="257860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185FA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16168" y="618134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PDF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897880" y="6428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automática mensal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558784" y="6108192"/>
            <a:ext cx="296265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185FA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31936" y="618134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· Medium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613648" y="642823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mensal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320040" y="6656832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IBEA · PrisTheAnalyst · github.com/PrisTheAnalyst/ibea-angola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 Módulos do IBEA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 independente · pesos definidos por elasticidade no contexto angolano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3749040" cy="1920240"/>
          </a:xfrm>
          <a:prstGeom prst="rect">
            <a:avLst/>
          </a:prstGeom>
          <a:solidFill>
            <a:srgbClr val="FAECE7"/>
          </a:solidFill>
          <a:ln w="15240">
            <a:solidFill>
              <a:srgbClr val="D85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78992"/>
            <a:ext cx="3749040" cy="4572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521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Inflação Alimentar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107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25%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609344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de cabaz básico em Luanda. Dados de campo semanais + scraping Kero/Shoprite. Publica o IPA — Índice de Preços Alimentares Angola.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5603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atrasado · base micro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078992"/>
            <a:ext cx="3749040" cy="1920240"/>
          </a:xfrm>
          <a:prstGeom prst="rect">
            <a:avLst/>
          </a:prstGeom>
          <a:solidFill>
            <a:srgbClr val="D6F0F3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078992"/>
            <a:ext cx="37490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1521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Petróleo e Economia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4263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20%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61688" y="1609344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Brent → kwanza → OGE. Angola exporta bruto mas importa refinado — o paradoxo modelado. Simulador de cenários incluído.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61688" y="25603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antecedente · motor macro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83880" y="1078992"/>
            <a:ext cx="3749040" cy="1920240"/>
          </a:xfrm>
          <a:prstGeom prst="rect">
            <a:avLst/>
          </a:prstGeom>
          <a:solidFill>
            <a:srgbClr val="EEEDFE"/>
          </a:solidFill>
          <a:ln w="15240">
            <a:solidFill>
              <a:srgbClr val="534A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078992"/>
            <a:ext cx="3749040" cy="4572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1521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Salário vs Custo de Vida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455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93608" y="1609344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compra real do salário mínimo desde 2015. Métrica própria: dias de trabalho para comprar a cesta. Comparativo SADC.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93608" y="256032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atrasado · impacto social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18688"/>
            <a:ext cx="3749040" cy="1920240"/>
          </a:xfrm>
          <a:prstGeom prst="rect">
            <a:avLst/>
          </a:prstGeom>
          <a:solidFill>
            <a:srgbClr val="E6F1FB"/>
          </a:solidFill>
          <a:ln w="15240">
            <a:solidFill>
              <a:srgbClr val="185F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218688"/>
            <a:ext cx="3749040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918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Kwanza e Câmbio Paralelo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10712" y="3310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15%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" y="374904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oficial BNA vs mercado informal (Candonga). Índice de Divergência Cambial Angola — inexistente em qualquer dashboard público.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470001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antecedente · risco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51960" y="3218688"/>
            <a:ext cx="3749040" cy="1920240"/>
          </a:xfrm>
          <a:prstGeom prst="rect">
            <a:avLst/>
          </a:prstGeom>
          <a:solidFill>
            <a:srgbClr val="FBEAF0"/>
          </a:solidFill>
          <a:ln w="15240">
            <a:solidFill>
              <a:srgbClr val="9935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1960" y="3218688"/>
            <a:ext cx="3749040" cy="457200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2918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Vulnerabilidade e Género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42632" y="3310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15%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61688" y="374904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crise afecta mulheres angolanas de forma diferente. Economia informal, famílias monoparentais. Lente ESG sobre dados macro.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61688" y="470001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ajuste · perspectiva única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83880" y="3218688"/>
            <a:ext cx="3749040" cy="1920240"/>
          </a:xfrm>
          <a:prstGeom prst="rect">
            <a:avLst/>
          </a:prstGeom>
          <a:solidFill>
            <a:srgbClr val="FFF0D0"/>
          </a:solidFill>
          <a:ln w="15240">
            <a:solidFill>
              <a:srgbClr val="BA75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83880" y="3218688"/>
            <a:ext cx="3749040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32918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— IBEA Composto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274552" y="3310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100%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93608" y="374904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0–100 que agrega os 5 módulos. Publicado mensalmente com relatório PDF. Score = assinatura analítica de PrisTheAnalyst.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93608" y="470001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· publicação mensal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5230368"/>
            <a:ext cx="1152144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266944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IBEA = 0.25 × M1 (IPA)  +  0.20 × M2 (Petróleo)  +  0.25 × M3 (Poder Compra)  +  0.15 × M4 (Câmbio)  +  0.15 × M5 (Género)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20040" y="5779008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Ponderação não arbitrária — reflecte a elasticidade do bem-estar no contexto angolano · M1+M3 dominam: segurança alimentar é o principal determinante de estabilidade social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de nível internacional · custo zero de infraestrutura · 100% open source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3794760" cy="1389888"/>
          </a:xfrm>
          <a:prstGeom prst="rect">
            <a:avLst/>
          </a:prstGeom>
          <a:solidFill>
            <a:srgbClr val="D6F0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78992"/>
            <a:ext cx="3794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92224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· análise · automatização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078992"/>
            <a:ext cx="3794760" cy="138988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078992"/>
            <a:ext cx="379476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1338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4813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Scikit-learn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92224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transformação, normalização e modelos preditivos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1078992"/>
            <a:ext cx="3794760" cy="1389888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078992"/>
            <a:ext cx="3794760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1338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66760" y="14813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· ARIMA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1792224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 · tendências de inflação e câmbio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651760"/>
            <a:ext cx="3794760" cy="1389888"/>
          </a:xfrm>
          <a:prstGeom prst="rect">
            <a:avLst/>
          </a:prstGeom>
          <a:solidFill>
            <a:srgbClr val="FFF0D0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651760"/>
            <a:ext cx="3794760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06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0540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36499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histórico mensal · queries analíticas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2651760"/>
            <a:ext cx="3794760" cy="1389888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2651760"/>
            <a:ext cx="3794760" cy="34747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706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0540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336499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automático · custo zero · execução mensal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75320" y="2651760"/>
            <a:ext cx="3794760" cy="1389888"/>
          </a:xfrm>
          <a:prstGeom prst="rect">
            <a:avLst/>
          </a:prstGeom>
          <a:solidFill>
            <a:srgbClr val="D6F0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2651760"/>
            <a:ext cx="3794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2706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30540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66760" y="336499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público interactivo · deploy gratuito na Streamlit Cloud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224528"/>
            <a:ext cx="3794760" cy="138988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224528"/>
            <a:ext cx="379476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279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6268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Plotly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" y="49377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analíticos profundos · gráficos interactivos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4224528"/>
            <a:ext cx="3794760" cy="1389888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97680" y="4224528"/>
            <a:ext cx="3794760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4279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89120" y="46268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· ReportLab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389120" y="49377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automática de relatório PDF mensal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75320" y="4224528"/>
            <a:ext cx="3794760" cy="1389888"/>
          </a:xfrm>
          <a:prstGeom prst="rect">
            <a:avLst/>
          </a:prstGeom>
          <a:solidFill>
            <a:srgbClr val="F4F4F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75320" y="4224528"/>
            <a:ext cx="37947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4279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66760" y="46268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66760" y="493776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aberto · datasets públicos · histórico completo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Execução — 8 Semanas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fundação ao primeiro dashboard público · fase actual: Semana 1 — fundação e estrutura do sistema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79776"/>
            <a:ext cx="11247120" cy="54864"/>
          </a:xfrm>
          <a:prstGeom prst="rect">
            <a:avLst/>
          </a:prstGeom>
          <a:solidFill>
            <a:srgbClr val="D5D5D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779776"/>
            <a:ext cx="1828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" y="267004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2240280" cy="1389888"/>
          </a:xfrm>
          <a:prstGeom prst="rect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2646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de dados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 básica angolana · primeiros preços de campo · estrutura GitHub · SQLite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ACTUAL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29584" y="2670048"/>
            <a:ext cx="256032" cy="256032"/>
          </a:xfrm>
          <a:prstGeom prst="ellipse">
            <a:avLst/>
          </a:prstGeom>
          <a:solidFill>
            <a:srgbClr val="D5D5D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170432"/>
            <a:ext cx="224028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261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0360" y="151790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Python v1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18653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calcular IPA · gráficos · análise salário vs cesta 2015–2026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61304" y="2670048"/>
            <a:ext cx="256032" cy="256032"/>
          </a:xfrm>
          <a:prstGeom prst="ellipse">
            <a:avLst/>
          </a:prstGeom>
          <a:solidFill>
            <a:srgbClr val="D5D5D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170432"/>
            <a:ext cx="224028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261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151790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público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18653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online · módulos M2 e M4 · link público funcional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93024" y="2670048"/>
            <a:ext cx="256032" cy="256032"/>
          </a:xfrm>
          <a:prstGeom prst="ellipse">
            <a:avLst/>
          </a:prstGeom>
          <a:solidFill>
            <a:srgbClr val="D5D5D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1170432"/>
            <a:ext cx="224028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1261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3800" y="151790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documentação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18653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datasets abertos · metodologia · requirements.txt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524744" y="2670048"/>
            <a:ext cx="256032" cy="256032"/>
          </a:xfrm>
          <a:prstGeom prst="ellipse">
            <a:avLst/>
          </a:prstGeom>
          <a:solidFill>
            <a:srgbClr val="D5D5D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1170432"/>
            <a:ext cx="224028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5A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0" y="1261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75520" y="151790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público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0" y="18653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LinkedIn · artigo Medium · 1.ª edição relatório IBEA · IBEA Score público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310128"/>
            <a:ext cx="3749040" cy="694944"/>
          </a:xfrm>
          <a:prstGeom prst="rect">
            <a:avLst/>
          </a:prstGeom>
          <a:solidFill>
            <a:srgbClr val="F4F4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83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IPA funcional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51960" y="3310128"/>
            <a:ext cx="3749040" cy="694944"/>
          </a:xfrm>
          <a:prstGeom prst="rect">
            <a:avLst/>
          </a:prstGeom>
          <a:solidFill>
            <a:srgbClr val="F4F4F2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3383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0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online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83880" y="3310128"/>
            <a:ext cx="3749040" cy="694944"/>
          </a:xfrm>
          <a:prstGeom prst="rect">
            <a:avLst/>
          </a:prstGeom>
          <a:solidFill>
            <a:srgbClr val="F4F4F2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3383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21040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IBEA Score público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133088"/>
            <a:ext cx="11521440" cy="19933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2245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competitivo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" y="464515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primários recolhidos em campo — mercados formais e informais de Luanda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" y="490118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com nome próprio: IPA e IBEA — quem cria o indicador define a narrativa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2920" y="5157216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de género incorporada — módulo ESG inexistente em qualquer sistema angolano público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" y="541324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mensal sistemática — cria autoridade e histórico verificável ao longo do tempo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2920" y="566928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aberto no GitHub — transparência metodológica que fontes oficiais não têm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8686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construo dashboards.</a:t>
            </a:r>
            <a:endParaRPr lang="en-US" sz="2600" dirty="0"/>
          </a:p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Construo sistemas que transformam</a:t>
            </a:r>
            <a:endParaRPr lang="en-US" sz="2600" dirty="0"/>
          </a:p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realidade angolana em dados</a:t>
            </a:r>
            <a:endParaRPr lang="en-US" sz="2600" dirty="0"/>
          </a:p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 mundo consegue ler."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374904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PrisTheAnalyst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4352544"/>
            <a:ext cx="29260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1713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github.com/PrisTheAnalyst/ibea-angola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97433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IBEA · Índice de Bem-Estar Económico Angola · Open Source · Dados reais · Publicação mensal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IBEA — Arquitectura do Sistema</dc:title>
  <dc:subject>PptxGenJS Presentation</dc:subject>
  <dc:creator>PrisTheAnalyst</dc:creator>
  <cp:lastModifiedBy>PrisTheAnalyst</cp:lastModifiedBy>
  <cp:revision>1</cp:revision>
  <dcterms:created xsi:type="dcterms:W3CDTF">2026-05-05T03:36:35Z</dcterms:created>
  <dcterms:modified xsi:type="dcterms:W3CDTF">2026-05-05T03:36:35Z</dcterms:modified>
</cp:coreProperties>
</file>